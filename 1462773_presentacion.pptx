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2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83149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22149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8595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9973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47348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2833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2303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693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208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58946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08665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EDDB0BE-0937-45CA-8A3E-89BF35E0286F}" type="datetimeFigureOut">
              <a:rPr lang="ca-ES" smtClean="0"/>
              <a:t>23/5/2022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6C9786A-9BDE-4BF3-B3DD-FE81B80DC878}" type="slidenum">
              <a:rPr lang="ca-ES" smtClean="0"/>
              <a:t>‹Nº›</a:t>
            </a:fld>
            <a:endParaRPr lang="ca-E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496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A4553-6DF8-47C9-AABC-B87F0D967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1330774"/>
            <a:ext cx="8361229" cy="2098226"/>
          </a:xfrm>
        </p:spPr>
        <p:txBody>
          <a:bodyPr/>
          <a:lstStyle/>
          <a:p>
            <a:r>
              <a:rPr lang="es-ES" sz="4400" dirty="0"/>
              <a:t>Reconocimiento facial personal en Matlab</a:t>
            </a:r>
            <a:endParaRPr lang="ca-ES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00B7-1FA9-452A-94EF-50972B20C1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Hernán Capilla Urbano, 1462773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4176426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1BB51-D1A9-42BD-8CD2-1134DD08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5B8F41-AFF0-4DEA-984E-26A5CEFE6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Reconocimiento facial de mi cara.</a:t>
            </a:r>
          </a:p>
          <a:p>
            <a:r>
              <a:rPr lang="es-ES" dirty="0"/>
              <a:t>Almacenar rasgos faciales propios.</a:t>
            </a:r>
          </a:p>
          <a:p>
            <a:r>
              <a:rPr lang="es-ES" dirty="0"/>
              <a:t>Entrenamiento con batería de imágenes (50 positivas y 18 negativas).</a:t>
            </a:r>
          </a:p>
          <a:p>
            <a:r>
              <a:rPr lang="es-ES" dirty="0"/>
              <a:t>Discriminación entre mi cara y la de otras personas.</a:t>
            </a:r>
          </a:p>
          <a:p>
            <a:r>
              <a:rPr lang="es-ES" dirty="0"/>
              <a:t>Aplicaciones:</a:t>
            </a:r>
          </a:p>
          <a:p>
            <a:pPr lvl="1"/>
            <a:r>
              <a:rPr lang="es-ES" dirty="0"/>
              <a:t>Vigilancia</a:t>
            </a:r>
          </a:p>
          <a:p>
            <a:pPr lvl="1"/>
            <a:r>
              <a:rPr lang="es-ES" dirty="0"/>
              <a:t>Juegos (encuentra a </a:t>
            </a:r>
            <a:r>
              <a:rPr lang="es-ES" dirty="0" err="1"/>
              <a:t>Wally</a:t>
            </a:r>
            <a:r>
              <a:rPr lang="es-ES" dirty="0"/>
              <a:t>)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56686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9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7052EC-010E-4B4A-B1BB-13C24F527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1962" y="-124909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cap="all" dirty="0"/>
              <a:t>E</a:t>
            </a:r>
            <a:r>
              <a:rPr lang="en-US" sz="6000" dirty="0"/>
              <a:t>stado del </a:t>
            </a:r>
            <a:r>
              <a:rPr lang="en-US" sz="6000" dirty="0" err="1"/>
              <a:t>arte</a:t>
            </a:r>
            <a:endParaRPr lang="en-US" sz="6000" cap="al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AE77D-B247-441F-9F46-9726602DE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1962" y="3677525"/>
            <a:ext cx="3355942" cy="179465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300"/>
              <a:t>CascadeObjectDetector para detectar bicicletas</a:t>
            </a: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ABE76C-9C54-464E-849E-4CCD96DE5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23" y="1421683"/>
            <a:ext cx="5659222" cy="421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2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9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7052EC-010E-4B4A-B1BB-13C24F527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1962" y="-124909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cap="all" dirty="0"/>
              <a:t>E</a:t>
            </a:r>
            <a:r>
              <a:rPr lang="en-US" sz="6000" dirty="0"/>
              <a:t>stado del </a:t>
            </a:r>
            <a:r>
              <a:rPr lang="en-US" sz="6000" dirty="0" err="1"/>
              <a:t>arte</a:t>
            </a:r>
            <a:endParaRPr lang="en-US" sz="6000" cap="al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AE77D-B247-441F-9F46-9726602DE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1962" y="3677525"/>
            <a:ext cx="3355942" cy="179465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300" dirty="0"/>
              <a:t>Algoritmo KLT para detección y tracking de caras en tiempo real</a:t>
            </a:r>
            <a:endParaRPr lang="en-US" sz="2300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61A5E9-A359-4CA8-8959-961BB99CB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481" y="1442342"/>
            <a:ext cx="5448844" cy="42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66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C84B4-E1A7-4D73-BC76-4C7CF879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Propuesta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0DDFEA-8558-42E4-B2D5-865C1D8A3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C31542-FE1D-4EFA-B1A7-128E6B040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267" y="1684940"/>
            <a:ext cx="8843866" cy="189295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4B3D174-AE1E-428D-8B3E-93B6C0BB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725" y="3692191"/>
            <a:ext cx="5081222" cy="2923958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9B309EF-A8F1-4BEC-9E40-F5DB2364A8E6}"/>
              </a:ext>
            </a:extLst>
          </p:cNvPr>
          <p:cNvCxnSpPr>
            <a:cxnSpLocks/>
          </p:cNvCxnSpPr>
          <p:nvPr/>
        </p:nvCxnSpPr>
        <p:spPr>
          <a:xfrm>
            <a:off x="7005336" y="3514987"/>
            <a:ext cx="0" cy="39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6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B9C62-66B1-473C-81A5-4CF4F454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Experimentos</a:t>
            </a:r>
            <a:r>
              <a:rPr lang="ca-ES" dirty="0"/>
              <a:t>, </a:t>
            </a:r>
            <a:r>
              <a:rPr lang="ca-ES" dirty="0" err="1"/>
              <a:t>resultados</a:t>
            </a:r>
            <a:r>
              <a:rPr lang="ca-ES" dirty="0"/>
              <a:t> y </a:t>
            </a:r>
            <a:r>
              <a:rPr lang="ca-ES" dirty="0" err="1"/>
              <a:t>análisis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2FD6C-5C66-4EC8-8821-DF4EC40A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0854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Obtención de los datos de entrenamiento</a:t>
            </a:r>
            <a:endParaRPr lang="ca-ES" sz="24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DC960B7-0907-4F0E-8906-30C5B860F790}"/>
              </a:ext>
            </a:extLst>
          </p:cNvPr>
          <p:cNvGrpSpPr/>
          <p:nvPr/>
        </p:nvGrpSpPr>
        <p:grpSpPr>
          <a:xfrm>
            <a:off x="1868788" y="2037742"/>
            <a:ext cx="8454425" cy="4661647"/>
            <a:chOff x="2151188" y="2037742"/>
            <a:chExt cx="8454425" cy="466164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A2ED2B7F-6CA6-4015-8412-C64CFB345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1188" y="2037742"/>
              <a:ext cx="3514165" cy="4661647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715C9FE1-F81E-4A65-ADDD-23EE5066A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1448" y="2037742"/>
              <a:ext cx="3514165" cy="4661647"/>
            </a:xfrm>
            <a:prstGeom prst="rect">
              <a:avLst/>
            </a:prstGeom>
          </p:spPr>
        </p:pic>
      </p:grp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8231EA98-A6F8-4496-A78C-888179A96FCF}"/>
              </a:ext>
            </a:extLst>
          </p:cNvPr>
          <p:cNvSpPr txBox="1">
            <a:spLocks/>
          </p:cNvSpPr>
          <p:nvPr/>
        </p:nvSpPr>
        <p:spPr>
          <a:xfrm>
            <a:off x="2849949" y="2149245"/>
            <a:ext cx="1551842" cy="84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u="sng" dirty="0">
                <a:solidFill>
                  <a:schemeClr val="bg1"/>
                </a:solidFill>
              </a:rPr>
              <a:t>POSITIVA</a:t>
            </a:r>
            <a:endParaRPr lang="ca-ES" sz="2400" u="sng" dirty="0">
              <a:solidFill>
                <a:schemeClr val="bg1"/>
              </a:solidFill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6D4D0A4F-AF92-4B81-A0E0-99BA57AAE155}"/>
              </a:ext>
            </a:extLst>
          </p:cNvPr>
          <p:cNvSpPr txBox="1">
            <a:spLocks/>
          </p:cNvSpPr>
          <p:nvPr/>
        </p:nvSpPr>
        <p:spPr>
          <a:xfrm>
            <a:off x="7985410" y="2171700"/>
            <a:ext cx="1551842" cy="84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u="sng" dirty="0">
                <a:solidFill>
                  <a:schemeClr val="bg1"/>
                </a:solidFill>
              </a:rPr>
              <a:t>NEGATIVA</a:t>
            </a:r>
            <a:endParaRPr lang="ca-ES" sz="24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369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B9C62-66B1-473C-81A5-4CF4F454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Experimentos</a:t>
            </a:r>
            <a:r>
              <a:rPr lang="ca-ES" dirty="0"/>
              <a:t>, </a:t>
            </a:r>
            <a:r>
              <a:rPr lang="ca-ES" dirty="0" err="1"/>
              <a:t>resultados</a:t>
            </a:r>
            <a:r>
              <a:rPr lang="ca-ES" dirty="0"/>
              <a:t> y </a:t>
            </a:r>
            <a:r>
              <a:rPr lang="ca-ES" dirty="0" err="1"/>
              <a:t>análisis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2FD6C-5C66-4EC8-8821-DF4EC40A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Creación y entrenamiento del modelo</a:t>
            </a:r>
            <a:endParaRPr lang="ca-E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913368-5B6B-4129-A946-AFC465AF3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335306"/>
            <a:ext cx="6705600" cy="383689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8872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B9C62-66B1-473C-81A5-4CF4F454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Experimentos</a:t>
            </a:r>
            <a:r>
              <a:rPr lang="ca-ES" dirty="0"/>
              <a:t>, </a:t>
            </a:r>
            <a:r>
              <a:rPr lang="ca-ES" dirty="0" err="1"/>
              <a:t>resultados</a:t>
            </a:r>
            <a:r>
              <a:rPr lang="ca-ES" dirty="0"/>
              <a:t> y </a:t>
            </a:r>
            <a:r>
              <a:rPr lang="ca-ES" dirty="0" err="1"/>
              <a:t>análisis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2FD6C-5C66-4EC8-8821-DF4EC40A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Creación y entrenamiento del modelo</a:t>
            </a:r>
            <a:endParaRPr lang="ca-ES" sz="240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BBC822F-E687-4730-B705-B04B71414DDC}"/>
              </a:ext>
            </a:extLst>
          </p:cNvPr>
          <p:cNvGrpSpPr/>
          <p:nvPr/>
        </p:nvGrpSpPr>
        <p:grpSpPr>
          <a:xfrm>
            <a:off x="917218" y="2427195"/>
            <a:ext cx="10894461" cy="2259106"/>
            <a:chOff x="1062647" y="2969559"/>
            <a:chExt cx="10894461" cy="2259106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62D4386-A35B-4067-9642-E7DB1DF99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2647" y="2969559"/>
              <a:ext cx="5235388" cy="2250141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4615D85E-55EB-4BB2-8AAB-5F0A29B41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0708" y="2969559"/>
              <a:ext cx="5486400" cy="2259106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140623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633B4-05E2-4354-8912-E2CBF930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Experimentos</a:t>
            </a:r>
            <a:r>
              <a:rPr lang="ca-ES" dirty="0"/>
              <a:t>, </a:t>
            </a:r>
            <a:r>
              <a:rPr lang="ca-ES" dirty="0" err="1"/>
              <a:t>resultados</a:t>
            </a:r>
            <a:r>
              <a:rPr lang="ca-ES" dirty="0"/>
              <a:t> y </a:t>
            </a:r>
            <a:r>
              <a:rPr lang="ca-ES" dirty="0" err="1"/>
              <a:t>análisis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05E921-B208-460F-8C16-A0C4AEC88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98771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a-ES" sz="2400" dirty="0" err="1"/>
              <a:t>Experimentos</a:t>
            </a:r>
            <a:endParaRPr lang="ca-ES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14E8CC9-F12A-41D0-8A1B-F77250895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62" y="2171699"/>
            <a:ext cx="3057231" cy="414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B53522-165A-4A85-BE9B-DB952D45B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331" y="2171699"/>
            <a:ext cx="3057231" cy="4140000"/>
          </a:xfrm>
          <a:prstGeom prst="rect">
            <a:avLst/>
          </a:prstGeom>
        </p:spPr>
      </p:pic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06C068C0-D3FE-41FC-8E82-6EC4AF4926E3}"/>
              </a:ext>
            </a:extLst>
          </p:cNvPr>
          <p:cNvSpPr txBox="1">
            <a:spLocks/>
          </p:cNvSpPr>
          <p:nvPr/>
        </p:nvSpPr>
        <p:spPr>
          <a:xfrm>
            <a:off x="932596" y="5596305"/>
            <a:ext cx="1551842" cy="84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err="1">
                <a:solidFill>
                  <a:srgbClr val="505046"/>
                </a:solidFill>
              </a:rPr>
              <a:t>nStages</a:t>
            </a:r>
            <a:r>
              <a:rPr lang="es-ES" dirty="0">
                <a:solidFill>
                  <a:srgbClr val="505046"/>
                </a:solidFill>
              </a:rPr>
              <a:t>=4</a:t>
            </a:r>
            <a:br>
              <a:rPr lang="es-ES" dirty="0">
                <a:solidFill>
                  <a:srgbClr val="505046"/>
                </a:solidFill>
              </a:rPr>
            </a:br>
            <a:r>
              <a:rPr lang="es-ES" dirty="0">
                <a:solidFill>
                  <a:srgbClr val="505046"/>
                </a:solidFill>
              </a:rPr>
              <a:t>FAR=30</a:t>
            </a:r>
            <a:endParaRPr lang="ca-ES" dirty="0">
              <a:solidFill>
                <a:srgbClr val="505046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7AD2374-301C-4FB6-A2D4-7D0A69B52D6B}"/>
              </a:ext>
            </a:extLst>
          </p:cNvPr>
          <p:cNvSpPr txBox="1"/>
          <p:nvPr/>
        </p:nvSpPr>
        <p:spPr>
          <a:xfrm>
            <a:off x="9748868" y="5596305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dirty="0" err="1">
                <a:solidFill>
                  <a:srgbClr val="505046"/>
                </a:solidFill>
              </a:rPr>
              <a:t>nStages</a:t>
            </a:r>
            <a:r>
              <a:rPr lang="es-ES" dirty="0">
                <a:solidFill>
                  <a:srgbClr val="505046"/>
                </a:solidFill>
              </a:rPr>
              <a:t>=4</a:t>
            </a:r>
            <a:br>
              <a:rPr lang="es-ES" dirty="0">
                <a:solidFill>
                  <a:srgbClr val="505046"/>
                </a:solidFill>
              </a:rPr>
            </a:br>
            <a:r>
              <a:rPr lang="es-ES" dirty="0">
                <a:solidFill>
                  <a:srgbClr val="505046"/>
                </a:solidFill>
              </a:rPr>
              <a:t>FAR=50</a:t>
            </a:r>
            <a:endParaRPr lang="ca-ES" dirty="0">
              <a:solidFill>
                <a:srgbClr val="5050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110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B9C62-66B1-473C-81A5-4CF4F454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Experimentos</a:t>
            </a:r>
            <a:r>
              <a:rPr lang="ca-ES" dirty="0"/>
              <a:t>, </a:t>
            </a:r>
            <a:r>
              <a:rPr lang="ca-ES" dirty="0" err="1"/>
              <a:t>resultados</a:t>
            </a:r>
            <a:r>
              <a:rPr lang="ca-ES" dirty="0"/>
              <a:t> y </a:t>
            </a:r>
            <a:r>
              <a:rPr lang="ca-ES" dirty="0" err="1"/>
              <a:t>análisis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2FD6C-5C66-4EC8-8821-DF4EC40A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0854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Resultados</a:t>
            </a:r>
            <a:endParaRPr lang="ca-ES" sz="2400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DB25DE5-23C0-47B7-BED9-639FF6D05171}"/>
              </a:ext>
            </a:extLst>
          </p:cNvPr>
          <p:cNvGrpSpPr/>
          <p:nvPr/>
        </p:nvGrpSpPr>
        <p:grpSpPr>
          <a:xfrm>
            <a:off x="2492463" y="2037742"/>
            <a:ext cx="7207074" cy="4661648"/>
            <a:chOff x="2653553" y="2037742"/>
            <a:chExt cx="7207074" cy="4661648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E55A068C-B29D-4A9E-BF5D-4D44A4F48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3553" y="2037743"/>
              <a:ext cx="3442447" cy="4661647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FBCD6B02-9777-4609-A2BD-06CF700C3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8180" y="2037742"/>
              <a:ext cx="3442447" cy="4661647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</p:grp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133CA46-4326-47E2-8CD7-639F97F93364}"/>
              </a:ext>
            </a:extLst>
          </p:cNvPr>
          <p:cNvSpPr txBox="1">
            <a:spLocks/>
          </p:cNvSpPr>
          <p:nvPr/>
        </p:nvSpPr>
        <p:spPr>
          <a:xfrm>
            <a:off x="713838" y="5750303"/>
            <a:ext cx="1845737" cy="84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err="1">
                <a:solidFill>
                  <a:srgbClr val="505046"/>
                </a:solidFill>
              </a:rPr>
              <a:t>nStages</a:t>
            </a:r>
            <a:r>
              <a:rPr lang="es-ES" dirty="0">
                <a:solidFill>
                  <a:srgbClr val="505046"/>
                </a:solidFill>
              </a:rPr>
              <a:t>=7</a:t>
            </a:r>
            <a:br>
              <a:rPr lang="es-ES" dirty="0">
                <a:solidFill>
                  <a:srgbClr val="505046"/>
                </a:solidFill>
              </a:rPr>
            </a:br>
            <a:r>
              <a:rPr lang="es-ES" dirty="0">
                <a:solidFill>
                  <a:srgbClr val="505046"/>
                </a:solidFill>
              </a:rPr>
              <a:t>FAR=0,000001</a:t>
            </a:r>
            <a:endParaRPr lang="ca-ES" dirty="0">
              <a:solidFill>
                <a:srgbClr val="5050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487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B9C62-66B1-473C-81A5-4CF4F454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Experimentos</a:t>
            </a:r>
            <a:r>
              <a:rPr lang="ca-ES" dirty="0"/>
              <a:t>, </a:t>
            </a:r>
            <a:r>
              <a:rPr lang="ca-ES" dirty="0" err="1"/>
              <a:t>resultados</a:t>
            </a:r>
            <a:r>
              <a:rPr lang="ca-ES" dirty="0"/>
              <a:t> y </a:t>
            </a:r>
            <a:r>
              <a:rPr lang="ca-ES" dirty="0" err="1"/>
              <a:t>análisis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2FD6C-5C66-4EC8-8821-DF4EC40A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0854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Resultados</a:t>
            </a:r>
            <a:endParaRPr lang="ca-ES" sz="240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E1822A7-46F7-491F-B814-7B2FD0098535}"/>
              </a:ext>
            </a:extLst>
          </p:cNvPr>
          <p:cNvGrpSpPr/>
          <p:nvPr/>
        </p:nvGrpSpPr>
        <p:grpSpPr>
          <a:xfrm>
            <a:off x="2487720" y="1976620"/>
            <a:ext cx="7216561" cy="4680000"/>
            <a:chOff x="3002850" y="1976620"/>
            <a:chExt cx="7216561" cy="4680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CB3B75BE-88A3-4C4E-9676-0ADAA2044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2850" y="1976620"/>
              <a:ext cx="3466666" cy="4680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2469E25-0021-4EC0-AC7A-04AB79842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3411" y="1976620"/>
              <a:ext cx="3456000" cy="4680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</p:grp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A9B070EA-B3E7-4338-A0F2-3105819DF1AC}"/>
              </a:ext>
            </a:extLst>
          </p:cNvPr>
          <p:cNvSpPr txBox="1">
            <a:spLocks/>
          </p:cNvSpPr>
          <p:nvPr/>
        </p:nvSpPr>
        <p:spPr>
          <a:xfrm>
            <a:off x="714160" y="5750303"/>
            <a:ext cx="1845737" cy="84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err="1">
                <a:solidFill>
                  <a:srgbClr val="505046"/>
                </a:solidFill>
              </a:rPr>
              <a:t>nStages</a:t>
            </a:r>
            <a:r>
              <a:rPr lang="es-ES" dirty="0">
                <a:solidFill>
                  <a:srgbClr val="505046"/>
                </a:solidFill>
              </a:rPr>
              <a:t>=7</a:t>
            </a:r>
            <a:br>
              <a:rPr lang="es-ES" dirty="0">
                <a:solidFill>
                  <a:srgbClr val="505046"/>
                </a:solidFill>
              </a:rPr>
            </a:br>
            <a:r>
              <a:rPr lang="es-ES" dirty="0">
                <a:solidFill>
                  <a:srgbClr val="505046"/>
                </a:solidFill>
              </a:rPr>
              <a:t>FAR=0,000001</a:t>
            </a:r>
            <a:endParaRPr lang="ca-ES" dirty="0">
              <a:solidFill>
                <a:srgbClr val="5050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224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DE014-5D03-46F0-A6D2-52426F62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367A8A-178B-4486-AF1F-A05B55BD8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Pros:</a:t>
            </a:r>
          </a:p>
          <a:p>
            <a:pPr lvl="1"/>
            <a:r>
              <a:rPr lang="es-ES" dirty="0"/>
              <a:t>Resultados satisfactorios considerando la batería de imágenes.</a:t>
            </a:r>
          </a:p>
          <a:p>
            <a:pPr lvl="1"/>
            <a:r>
              <a:rPr lang="es-ES" dirty="0"/>
              <a:t>Escalabilidad.</a:t>
            </a:r>
          </a:p>
          <a:p>
            <a:r>
              <a:rPr lang="es-ES" dirty="0"/>
              <a:t>Contras:</a:t>
            </a:r>
          </a:p>
          <a:p>
            <a:pPr lvl="1"/>
            <a:r>
              <a:rPr lang="es-ES" dirty="0"/>
              <a:t>Se necesitarán más imágenes para mayor flexibilidad.</a:t>
            </a:r>
          </a:p>
          <a:p>
            <a:pPr lvl="1"/>
            <a:r>
              <a:rPr lang="es-ES" dirty="0"/>
              <a:t>Imágenes más variadas.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092523560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37</TotalTime>
  <Words>181</Words>
  <Application>Microsoft Office PowerPoint</Application>
  <PresentationFormat>Panorámica</PresentationFormat>
  <Paragraphs>40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Franklin Gothic Book</vt:lpstr>
      <vt:lpstr>Recorte</vt:lpstr>
      <vt:lpstr>Reconocimiento facial personal en Matlab</vt:lpstr>
      <vt:lpstr>Introducción</vt:lpstr>
      <vt:lpstr>Estado del arte</vt:lpstr>
      <vt:lpstr>Estado del arte</vt:lpstr>
      <vt:lpstr>Propuesta</vt:lpstr>
      <vt:lpstr>Experimentos, resultados y análisis</vt:lpstr>
      <vt:lpstr>Experimentos, resultados y análisis</vt:lpstr>
      <vt:lpstr>Experimentos, resultados y análisis</vt:lpstr>
      <vt:lpstr>Experimentos, resultados y análisis</vt:lpstr>
      <vt:lpstr>Experimentos, resultados y análisis</vt:lpstr>
      <vt:lpstr>Experimentos, resultados y análisis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Reconocimiento facial personal en Matlab</dc:title>
  <dc:creator>Hernán Capilla</dc:creator>
  <cp:lastModifiedBy>Hernán Capilla</cp:lastModifiedBy>
  <cp:revision>37</cp:revision>
  <dcterms:created xsi:type="dcterms:W3CDTF">2022-05-23T08:51:56Z</dcterms:created>
  <dcterms:modified xsi:type="dcterms:W3CDTF">2022-05-23T09:29:54Z</dcterms:modified>
</cp:coreProperties>
</file>